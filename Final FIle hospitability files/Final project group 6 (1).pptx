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6" r:id="rId5"/>
    <p:sldId id="264" r:id="rId6"/>
    <p:sldId id="262" r:id="rId7"/>
    <p:sldId id="268" r:id="rId8"/>
    <p:sldId id="265" r:id="rId9"/>
    <p:sldId id="260" r:id="rId10"/>
    <p:sldId id="261" r:id="rId11"/>
    <p:sldId id="267" r:id="rId12"/>
    <p:sldId id="263" r:id="rId13"/>
    <p:sldId id="270" r:id="rId14"/>
    <p:sldId id="269" r:id="rId15"/>
    <p:sldId id="271" r:id="rId16"/>
    <p:sldId id="272" r:id="rId17"/>
    <p:sldId id="273" r:id="rId18"/>
    <p:sldId id="275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91FE60-7F44-410E-9EE8-8B5927EF56C7}" v="802" dt="2026-02-12T17:36:17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48" autoAdjust="0"/>
  </p:normalViewPr>
  <p:slideViewPr>
    <p:cSldViewPr snapToGrid="0">
      <p:cViewPr varScale="1">
        <p:scale>
          <a:sx n="94" d="100"/>
          <a:sy n="94" d="100"/>
        </p:scale>
        <p:origin x="158" y="2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FE878-2F9C-40F1-B9BA-86FB038F431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DB99F-8643-4FF2-84A1-069F8D657E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075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945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036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202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2C4E-C8C0-686E-0ECB-29B2D649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57A0D-BAFC-75D1-825F-3D693CA9C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4B08D-376A-DB50-3980-EDAE843D4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8D0F7-95BE-2FB1-FDAD-0D9AC891D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445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EB10F-6E13-39FD-453A-E01F65473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E211B-27D2-11BF-EC88-76AD318E5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1253E-11F6-B5B7-640B-CEECB801C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F6DEC-A394-CFE0-FD5A-741649440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284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2822F-F782-6785-6FD6-BADC6CF89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975FA-07F5-8F09-FFCF-B32D8B180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BF326-BC6B-1153-2091-FA353E680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C858A-C40D-42F5-DE6D-D307255DD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005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E3E19-56FC-C1C6-6C90-8919F51C6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50EE2-899D-5E8C-A029-85ED145F0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ACD90-67C0-3042-2575-71017A17D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B8AD0-75B2-D60A-69C4-93BF1D6DB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416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DA461-1467-26FC-003B-E585E57A7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8EADB-3923-6C76-E4E4-316E4E3A0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F3822-FDFB-B19B-4126-2ED054D0F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6A56D-4AE5-E8C6-F6D0-0103AB27F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923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612F7-9B34-64A1-4F4D-24993C7D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A4224-D222-8F5D-98A9-0C9803C3D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4BE0E-F0AF-963E-AC30-A5C0AC03F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0CB9E-BB8D-767A-7F8D-F78E9D8B5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778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935A-70B5-2D46-059C-7B0EB9B5D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D6291-7249-CB38-F3A0-81FD7C412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A7A2C-B6F5-8DF0-BAE0-AD0C09EE9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2F682-59B4-2EA4-4FA4-A06317A2F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8520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D1CF4-4057-ABFC-4A61-79C5954B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EE062-C7F4-CF83-A2B7-7004BA4DC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D64C0-39B3-FE7E-94FE-B1EDE8EE8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2D75-4E11-B799-6489-D39B57ABE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782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3C8FD-F578-AFF2-FCBB-B133A87E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A3CAF-9F38-5D40-DB76-45F12D999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0DDF3-51C4-D804-9023-9473A5272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51F5F-6EFC-A6D2-4BFF-23DCDA66B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290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E823-5CC0-0006-0607-D75CD034A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7A1A9-EC5E-D8FF-0ED1-5248A6F17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8DF77-AA5F-F843-FE90-631BD6503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9DAED-750A-0C8F-F6FB-F6427E940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012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B65F0-17D8-9453-359C-B5DBDD4C8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CA9F6-413A-6E05-0344-F471ACA0F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FDD14-94B3-144E-1C2A-BAEAD2B3C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A17DF-FF32-B317-43B4-FC8D99D37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900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1283-1129-CEBA-AEE5-B703CAAA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8CD10-B807-7157-F7D6-B266A25C6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A0C82-7FF4-969F-F98B-3D0A43769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D8C0A-16A4-09FF-4F86-9A4F57F35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15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4D96-7815-4491-DEC1-701C188B8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3E768-B4A4-19AC-4FF0-BD7954087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4F197-20F7-4D2D-E9DF-E9D510C4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06D9B-8D4B-93E7-1DB4-738600D2B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871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0D5C7-7D77-519A-D807-BEA764DF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43326-DA0A-64BE-7BB2-477B4D7BC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68791-F4BF-B394-9582-B0759C665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5D6B8-11DB-E71E-B1D4-E6FB76F8D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431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757C7-1F6F-0423-7FB7-5E9178A4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6E7E4-8D86-ED22-E616-8A4FDDC14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D9537-69A0-3123-6A5C-678FC87C5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EFA8A-AA40-89C8-B934-3EBA2E21E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3868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0593-C9B1-794D-7094-4752A0DD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7184B-97F3-2603-BAA3-7D364D28D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44C6D-900A-6E86-2AC0-37797F743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17BFD-B8E2-E3D4-451D-1EB3A6EE9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032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8D64D-D730-DDC8-3E17-E4A94B654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3E089-9532-91DA-5D03-473F5C355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17E38-05C8-5D05-A892-2F58435D5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A797B-B74D-40D3-FF7F-5A1019ACE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99F-8643-4FF2-84A1-069F8D657EB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13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E20A-DECC-B990-7CAD-174B53428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07B-FE83-7654-DA32-E71B42A3A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EA45B-1262-7DC4-6957-98EBBA2D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2104D-F17E-20EF-146A-885087064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84C9D-4E35-6809-04C1-7AF28110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151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AEEB-41B1-A6AB-6E0E-A7C9F698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4BB56-9876-77F7-F03B-745F73E1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197D6-0166-9143-3FD3-6FB68A04A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9EAD6-CDB6-E844-0A17-F619C3D67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34130-C74C-4CB9-2CB3-009EFC95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355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23D2-08EE-DF1D-4D57-D064EAF11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14EF7-F1A8-FA03-F001-E2CB6ABCC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D5C38-3718-7229-061E-797874448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CF41E-11D9-80E8-C14A-0E0390189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B3819-95BA-07A4-C1BE-B9F94ED6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985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DC8E-1033-A495-E7E2-6F0733E1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4987-EBCF-352C-5B27-9E131A01E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2ECA8-40B8-CD4F-1AB0-F31EB072E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161EA-21AF-748E-B0AB-57DFE63E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4BFD3-1D26-4CB0-61D7-2D30B2C8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50944-4879-F30F-FDD0-147DB30F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18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353A-9428-0A26-E704-54DD4190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1CF77-18E1-1593-3451-CF5B2ED37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7F9C3-A154-497C-3E38-4AA4F3261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E9C0BD-DBBD-DF77-FE64-FC1B53071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F39D58-01F2-1B38-F084-86AA4B16E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18EF28-0DC8-BB17-E6BC-F73FA53F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B8044-0235-4AE2-BD8E-8BA57672F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5ACA80-AA4B-BE91-A45E-4211E90D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701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8A9B5-DF7D-5E0F-5892-78BF7C0C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8759B-75A6-A894-FF5F-AB489AB32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C7206-8826-87C6-709D-ED521DC48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80D46-F1DF-7624-986B-18F5AFC6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871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23044-6068-B702-2500-9848A250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AA1C51-77A9-982B-EDA5-0AEE7DCA7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FA4C5-B26D-0BC3-C4B1-E52AEC7B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746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5EB6-732D-41CB-39E4-986FEEB57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70A7-59A1-14A2-BA05-457D1DE49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2C2F4-0FD7-83EE-EDCB-A20358782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9B39A-25ED-7C03-9B37-71A29B023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2F06D-87F0-412E-3405-D2145ED98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33907-07C5-2031-166F-4E8D93AC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72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2782C-3F07-136B-801B-0A2C0184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98D76-8890-7E25-F7F0-5932B6A65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ADF98-DA38-A305-A533-32ABAC595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93A9E-9912-BD6F-00C4-692E90B17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D5AA4-69F7-D23F-355B-7F8BBCC0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6E0CB-966C-55ED-8CEA-DE4E1D45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046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5419-3B50-14E5-8865-61207F8F9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966B2-1BC5-02CD-C880-F7EACEC43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58A77-F300-92DA-4EC8-9EF2DEB14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6E599-DC1F-E562-32BC-1A172613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CA36C-4D33-B2EF-F780-0074D3B0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746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082DC-2645-F762-1615-E91FA15FA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E0092-E61B-86B0-0C28-F324F4F36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41AD9-E27E-6BB2-85B5-03CCFD5E9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D3B51-8A38-BB62-C1A4-7346B46D2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97B41-7BAC-6487-FFE6-00F31A74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060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9CEB4-C502-346C-BBC5-A0C6D528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991D2-73ED-8D3C-C715-F9BABD8A9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C3315-18FF-6520-4C97-0B94CF407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ADB0C-BDDA-42AF-AFBA-CBAA85EC326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BAEE1-0E9E-74E1-DF1E-C5A86DD19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C2855-1F7C-66BF-B016-3C7511F51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137D8-E8F9-4D1C-B17E-81AA4B1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52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9D8515E6-89EA-ACE8-F8DF-F6B4E0B886C6}"/>
              </a:ext>
            </a:extLst>
          </p:cNvPr>
          <p:cNvGrpSpPr/>
          <p:nvPr/>
        </p:nvGrpSpPr>
        <p:grpSpPr>
          <a:xfrm>
            <a:off x="-2276777" y="0"/>
            <a:ext cx="3664405" cy="6858000"/>
            <a:chOff x="3648418" y="0"/>
            <a:chExt cx="3664405" cy="6858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5C78EA3-6E5A-52DC-BC3D-A2AEE7E1378F}"/>
                </a:ext>
              </a:extLst>
            </p:cNvPr>
            <p:cNvGrpSpPr/>
            <p:nvPr/>
          </p:nvGrpSpPr>
          <p:grpSpPr>
            <a:xfrm>
              <a:off x="3648418" y="0"/>
              <a:ext cx="3102429" cy="6858000"/>
              <a:chOff x="9084127" y="0"/>
              <a:chExt cx="3102429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66894FF-360D-1957-2089-F6C127D7D3EC}"/>
                  </a:ext>
                </a:extLst>
              </p:cNvPr>
              <p:cNvSpPr/>
              <p:nvPr/>
            </p:nvSpPr>
            <p:spPr>
              <a:xfrm>
                <a:off x="9084127" y="0"/>
                <a:ext cx="3102429" cy="6858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Few cities/hotels drive most revenue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Revenue trend drops in later weeks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Luxury/Elite rooms generate higher value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ECFCCE-1A8B-094C-AA1A-D1A8850E1DD1}"/>
                  </a:ext>
                </a:extLst>
              </p:cNvPr>
              <p:cNvSpPr txBox="1"/>
              <p:nvPr/>
            </p:nvSpPr>
            <p:spPr>
              <a:xfrm>
                <a:off x="9568881" y="1494063"/>
                <a:ext cx="213292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latin typeface="Arial Rounded MT Bold" panose="020F0704030504030204" pitchFamily="34" charset="0"/>
                  </a:rPr>
                  <a:t>Insights </a:t>
                </a:r>
                <a:endParaRPr lang="en-IN" sz="2800" dirty="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FBD1CF51-5508-70BB-FD9B-605242391E18}"/>
                </a:ext>
              </a:extLst>
            </p:cNvPr>
            <p:cNvSpPr/>
            <p:nvPr/>
          </p:nvSpPr>
          <p:spPr>
            <a:xfrm rot="5400000">
              <a:off x="6519180" y="1474685"/>
              <a:ext cx="1025310" cy="561976"/>
            </a:xfrm>
            <a:prstGeom prst="triangle">
              <a:avLst>
                <a:gd name="adj" fmla="val 50806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D34CA4-124C-081D-241E-6E16EA0B3B96}"/>
              </a:ext>
            </a:extLst>
          </p:cNvPr>
          <p:cNvGrpSpPr/>
          <p:nvPr/>
        </p:nvGrpSpPr>
        <p:grpSpPr>
          <a:xfrm>
            <a:off x="-2703468" y="0"/>
            <a:ext cx="3846770" cy="6858000"/>
            <a:chOff x="5925907" y="0"/>
            <a:chExt cx="3642974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E828E4-30BF-B121-0F99-D9AFBB9BA277}"/>
                </a:ext>
              </a:extLst>
            </p:cNvPr>
            <p:cNvSpPr/>
            <p:nvPr/>
          </p:nvSpPr>
          <p:spPr>
            <a:xfrm>
              <a:off x="5925907" y="0"/>
              <a:ext cx="3158219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tx1"/>
                  </a:solidFill>
                </a:rPr>
                <a:t>KPI consistency across Excel, Power BI, and Tableau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tx1"/>
                  </a:solidFill>
                </a:rPr>
                <a:t>MySQL aggregation and data cleaning issues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tx1"/>
                  </a:solidFill>
                </a:rPr>
                <a:t>Matching charts and metrics across tools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58654D-F603-22D4-91A8-02978FD1EC02}"/>
                </a:ext>
              </a:extLst>
            </p:cNvPr>
            <p:cNvSpPr txBox="1"/>
            <p:nvPr/>
          </p:nvSpPr>
          <p:spPr>
            <a:xfrm>
              <a:off x="6590618" y="1494063"/>
              <a:ext cx="2132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rial Rounded MT Bold" panose="020F0704030504030204" pitchFamily="34" charset="0"/>
                </a:rPr>
                <a:t>Challenges</a:t>
              </a:r>
              <a:endParaRPr lang="en-IN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89E88377-7FD3-EB87-A643-93A2E5706252}"/>
                </a:ext>
              </a:extLst>
            </p:cNvPr>
            <p:cNvSpPr/>
            <p:nvPr/>
          </p:nvSpPr>
          <p:spPr>
            <a:xfrm rot="5400000">
              <a:off x="8775238" y="1474685"/>
              <a:ext cx="1025310" cy="561976"/>
            </a:xfrm>
            <a:prstGeom prst="triangle">
              <a:avLst>
                <a:gd name="adj" fmla="val 5080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1266B3-CF73-00AA-0BDB-5DCC48DA0E30}"/>
              </a:ext>
            </a:extLst>
          </p:cNvPr>
          <p:cNvGrpSpPr/>
          <p:nvPr/>
        </p:nvGrpSpPr>
        <p:grpSpPr>
          <a:xfrm>
            <a:off x="-2703468" y="0"/>
            <a:ext cx="3656581" cy="6858000"/>
            <a:chOff x="2894575" y="0"/>
            <a:chExt cx="3528673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1A6F16-B3E7-33AC-7F40-89198BECA77A}"/>
                </a:ext>
              </a:extLst>
            </p:cNvPr>
            <p:cNvSpPr/>
            <p:nvPr/>
          </p:nvSpPr>
          <p:spPr>
            <a:xfrm>
              <a:off x="2894575" y="0"/>
              <a:ext cx="2990849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Tracks revenue, bookings, occupancy %, and cancellation rate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Includes city, hotel, room class, and weekly trend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Added filters for dynamic dashboard interaction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BA8E1A-C1EC-1184-AD23-EF34F198EEAA}"/>
                </a:ext>
              </a:extLst>
            </p:cNvPr>
            <p:cNvSpPr txBox="1"/>
            <p:nvPr/>
          </p:nvSpPr>
          <p:spPr>
            <a:xfrm>
              <a:off x="3432399" y="1494063"/>
              <a:ext cx="2132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rial Rounded MT Bold" panose="020F0704030504030204" pitchFamily="34" charset="0"/>
                </a:rPr>
                <a:t>Overview</a:t>
              </a:r>
              <a:endParaRPr lang="en-IN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C225CA3D-4C30-4FD4-A2BE-ADC3A47312D0}"/>
                </a:ext>
              </a:extLst>
            </p:cNvPr>
            <p:cNvSpPr/>
            <p:nvPr/>
          </p:nvSpPr>
          <p:spPr>
            <a:xfrm rot="5400000">
              <a:off x="5629605" y="1474685"/>
              <a:ext cx="1025310" cy="561976"/>
            </a:xfrm>
            <a:prstGeom prst="triangle">
              <a:avLst>
                <a:gd name="adj" fmla="val 5080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F6F5B82-D9F4-9E2A-1D66-8AA8FC006848}"/>
              </a:ext>
            </a:extLst>
          </p:cNvPr>
          <p:cNvGrpSpPr/>
          <p:nvPr/>
        </p:nvGrpSpPr>
        <p:grpSpPr>
          <a:xfrm>
            <a:off x="-2863022" y="0"/>
            <a:ext cx="3607167" cy="6858000"/>
            <a:chOff x="0" y="0"/>
            <a:chExt cx="3458424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88DCA1-2873-FFCB-8EBE-DC1670CA34AD}"/>
                </a:ext>
              </a:extLst>
            </p:cNvPr>
            <p:cNvSpPr/>
            <p:nvPr/>
          </p:nvSpPr>
          <p:spPr>
            <a:xfrm>
              <a:off x="0" y="0"/>
              <a:ext cx="2935059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</a:rPr>
                <a:t>Built hospitality dashboard to track revenue, bookings, occupancy, and cancellations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</a:rPr>
                <a:t>Created same KPI model in Excel, Power BI, and Tableau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</a:rPr>
                <a:t>Used MySQL for data querying and preparation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94F566-D6BE-AD35-D95E-F0147E883F27}"/>
                </a:ext>
              </a:extLst>
            </p:cNvPr>
            <p:cNvSpPr txBox="1"/>
            <p:nvPr/>
          </p:nvSpPr>
          <p:spPr>
            <a:xfrm>
              <a:off x="304800" y="1494063"/>
              <a:ext cx="2325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rial Rounded MT Bold" panose="020F0704030504030204" pitchFamily="34" charset="0"/>
                </a:rPr>
                <a:t>Introduction</a:t>
              </a:r>
              <a:endParaRPr lang="en-IN" sz="2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1B1F42CF-96E6-6AC5-6AE3-1298E539D047}"/>
                </a:ext>
              </a:extLst>
            </p:cNvPr>
            <p:cNvSpPr/>
            <p:nvPr/>
          </p:nvSpPr>
          <p:spPr>
            <a:xfrm rot="5400000">
              <a:off x="2664781" y="1499529"/>
              <a:ext cx="1025310" cy="561976"/>
            </a:xfrm>
            <a:prstGeom prst="triangle">
              <a:avLst>
                <a:gd name="adj" fmla="val 50806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8D4B62B-9C41-7226-5A5F-F64F5BBB516F}"/>
              </a:ext>
            </a:extLst>
          </p:cNvPr>
          <p:cNvSpPr txBox="1"/>
          <p:nvPr/>
        </p:nvSpPr>
        <p:spPr>
          <a:xfrm>
            <a:off x="4301949" y="2862557"/>
            <a:ext cx="75875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 Rounded MT Bold" panose="020F0704030504030204" pitchFamily="34" charset="0"/>
              </a:rPr>
              <a:t>Hospitality Analytics Project </a:t>
            </a:r>
            <a:endParaRPr lang="en-IN" sz="4800" dirty="0">
              <a:latin typeface="Arial Rounded MT Bold" panose="020F07040305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0CD480-E8A5-2E27-F7DE-700252F7618B}"/>
              </a:ext>
            </a:extLst>
          </p:cNvPr>
          <p:cNvSpPr txBox="1"/>
          <p:nvPr/>
        </p:nvSpPr>
        <p:spPr>
          <a:xfrm>
            <a:off x="8385265" y="4777740"/>
            <a:ext cx="2359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rial Rounded MT Bold" panose="020F0704030504030204" pitchFamily="34" charset="0"/>
              </a:rPr>
              <a:t>By group - 6</a:t>
            </a:r>
            <a:endParaRPr lang="en-IN" sz="2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998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A8D21-EAC7-5C10-353F-E3B6BFBCE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3A11812C-CBC3-89BA-2F7D-C66A77BD66EA}"/>
              </a:ext>
            </a:extLst>
          </p:cNvPr>
          <p:cNvGrpSpPr/>
          <p:nvPr/>
        </p:nvGrpSpPr>
        <p:grpSpPr>
          <a:xfrm>
            <a:off x="9090069" y="0"/>
            <a:ext cx="3664405" cy="6858000"/>
            <a:chOff x="3648418" y="0"/>
            <a:chExt cx="3664405" cy="68580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F8ABDE9-2BBC-3198-D82E-BE3559EE1855}"/>
                </a:ext>
              </a:extLst>
            </p:cNvPr>
            <p:cNvGrpSpPr/>
            <p:nvPr/>
          </p:nvGrpSpPr>
          <p:grpSpPr>
            <a:xfrm>
              <a:off x="3648418" y="0"/>
              <a:ext cx="3102429" cy="6858000"/>
              <a:chOff x="9084127" y="0"/>
              <a:chExt cx="3102429" cy="685800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6B85212-CDFC-B0C2-84F0-32EC042716B2}"/>
                  </a:ext>
                </a:extLst>
              </p:cNvPr>
              <p:cNvSpPr/>
              <p:nvPr/>
            </p:nvSpPr>
            <p:spPr>
              <a:xfrm>
                <a:off x="9084127" y="0"/>
                <a:ext cx="3102429" cy="6858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Few cities/hotels drive most revenue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Revenue trend drops in later weeks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Luxury/Elite rooms generate higher value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73EE83C-79D1-E1FE-649F-BC0807EF86F6}"/>
                  </a:ext>
                </a:extLst>
              </p:cNvPr>
              <p:cNvSpPr txBox="1"/>
              <p:nvPr/>
            </p:nvSpPr>
            <p:spPr>
              <a:xfrm>
                <a:off x="9568881" y="1494063"/>
                <a:ext cx="213292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latin typeface="Arial Rounded MT Bold" panose="020F0704030504030204" pitchFamily="34" charset="0"/>
                  </a:rPr>
                  <a:t>Insights</a:t>
                </a:r>
                <a:endParaRPr lang="en-IN" sz="2800" dirty="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F30C9287-8131-675F-FC9C-1B485BC1DDED}"/>
                </a:ext>
              </a:extLst>
            </p:cNvPr>
            <p:cNvSpPr/>
            <p:nvPr/>
          </p:nvSpPr>
          <p:spPr>
            <a:xfrm rot="5400000">
              <a:off x="6519180" y="1474685"/>
              <a:ext cx="1025310" cy="561976"/>
            </a:xfrm>
            <a:prstGeom prst="triangle">
              <a:avLst>
                <a:gd name="adj" fmla="val 50806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DD811AF-0691-2F43-8B90-C35A2CB76E99}"/>
              </a:ext>
            </a:extLst>
          </p:cNvPr>
          <p:cNvGrpSpPr/>
          <p:nvPr/>
        </p:nvGrpSpPr>
        <p:grpSpPr>
          <a:xfrm>
            <a:off x="5926082" y="0"/>
            <a:ext cx="3743698" cy="6858000"/>
            <a:chOff x="2946968" y="0"/>
            <a:chExt cx="3481724" cy="68580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10BC574-7773-156B-8A38-E22E463ABF5D}"/>
                </a:ext>
              </a:extLst>
            </p:cNvPr>
            <p:cNvSpPr/>
            <p:nvPr/>
          </p:nvSpPr>
          <p:spPr>
            <a:xfrm>
              <a:off x="2946968" y="0"/>
              <a:ext cx="2990851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KPI consistency across Excel, Power BI, and Tableau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MySQL aggregation and data cleaning issues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Matching charts and metrics across tools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AD821F-AA52-E185-1A4B-94A8FC4867FD}"/>
                </a:ext>
              </a:extLst>
            </p:cNvPr>
            <p:cNvSpPr txBox="1"/>
            <p:nvPr/>
          </p:nvSpPr>
          <p:spPr>
            <a:xfrm>
              <a:off x="3437846" y="1494063"/>
              <a:ext cx="2132921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rial Rounded MT Bold" panose="020F0704030504030204" pitchFamily="34" charset="0"/>
                </a:rPr>
                <a:t>Challenges</a:t>
              </a:r>
              <a:endParaRPr lang="en-IN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6E104196-A59D-1F32-9A4B-43702CD3FFDE}"/>
                </a:ext>
              </a:extLst>
            </p:cNvPr>
            <p:cNvSpPr/>
            <p:nvPr/>
          </p:nvSpPr>
          <p:spPr>
            <a:xfrm rot="5400000">
              <a:off x="5635049" y="1474685"/>
              <a:ext cx="1025310" cy="561976"/>
            </a:xfrm>
            <a:prstGeom prst="triangle">
              <a:avLst>
                <a:gd name="adj" fmla="val 508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0BB7EF3-4D06-B273-D2CF-66DC0D8B0E5D}"/>
              </a:ext>
            </a:extLst>
          </p:cNvPr>
          <p:cNvGrpSpPr/>
          <p:nvPr/>
        </p:nvGrpSpPr>
        <p:grpSpPr>
          <a:xfrm>
            <a:off x="2946966" y="0"/>
            <a:ext cx="3481726" cy="6858000"/>
            <a:chOff x="2946966" y="0"/>
            <a:chExt cx="3481726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B8493D-B03D-F88D-04CF-BB532E92D282}"/>
                </a:ext>
              </a:extLst>
            </p:cNvPr>
            <p:cNvSpPr/>
            <p:nvPr/>
          </p:nvSpPr>
          <p:spPr>
            <a:xfrm>
              <a:off x="2946966" y="0"/>
              <a:ext cx="2990849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Tracks revenue, bookings, occupancy %, and cancellation rate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Includes city, hotel, room class, and weekly trend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Added filters for dynamic dashboard interaction</a:t>
              </a:r>
              <a:endParaRPr lang="en-IN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0E94BC-59BC-543A-F711-ECA28D6C8018}"/>
                </a:ext>
              </a:extLst>
            </p:cNvPr>
            <p:cNvSpPr txBox="1"/>
            <p:nvPr/>
          </p:nvSpPr>
          <p:spPr>
            <a:xfrm>
              <a:off x="3437843" y="1494063"/>
              <a:ext cx="2132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rial Rounded MT Bold" panose="020F0704030504030204" pitchFamily="34" charset="0"/>
                </a:rPr>
                <a:t>Overview</a:t>
              </a:r>
              <a:endParaRPr lang="en-IN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602BAC72-B1D6-576D-229B-CEE040BA9686}"/>
                </a:ext>
              </a:extLst>
            </p:cNvPr>
            <p:cNvSpPr/>
            <p:nvPr/>
          </p:nvSpPr>
          <p:spPr>
            <a:xfrm rot="5400000">
              <a:off x="5635049" y="1474685"/>
              <a:ext cx="1025310" cy="561976"/>
            </a:xfrm>
            <a:prstGeom prst="triangle">
              <a:avLst>
                <a:gd name="adj" fmla="val 5080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421F2C4-733C-1EA4-3C09-52F9AF57565E}"/>
              </a:ext>
            </a:extLst>
          </p:cNvPr>
          <p:cNvGrpSpPr/>
          <p:nvPr/>
        </p:nvGrpSpPr>
        <p:grpSpPr>
          <a:xfrm>
            <a:off x="0" y="0"/>
            <a:ext cx="3458424" cy="6858000"/>
            <a:chOff x="5444" y="0"/>
            <a:chExt cx="3458424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CBFE7DF-FA5A-F9C5-F442-5954E4E0A89F}"/>
                </a:ext>
              </a:extLst>
            </p:cNvPr>
            <p:cNvSpPr/>
            <p:nvPr/>
          </p:nvSpPr>
          <p:spPr>
            <a:xfrm>
              <a:off x="5444" y="0"/>
              <a:ext cx="2935059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Built hospitality dashboard to track revenue, bookings, occupancy, and cancellations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Created same KPI model in Excel, Power BI, and Tableau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1"/>
                  </a:solidFill>
                </a:rPr>
                <a:t>Used MySQL for data querying and preparation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3847CF-75AD-72FC-7BE2-5380EFEE371D}"/>
                </a:ext>
              </a:extLst>
            </p:cNvPr>
            <p:cNvSpPr txBox="1"/>
            <p:nvPr/>
          </p:nvSpPr>
          <p:spPr>
            <a:xfrm>
              <a:off x="310244" y="1494063"/>
              <a:ext cx="2325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rial Rounded MT Bold" panose="020F0704030504030204" pitchFamily="34" charset="0"/>
                </a:rPr>
                <a:t>Introduction</a:t>
              </a:r>
              <a:endParaRPr lang="en-IN" sz="2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B14709F2-B15D-FAE7-4050-9D23294755E9}"/>
                </a:ext>
              </a:extLst>
            </p:cNvPr>
            <p:cNvSpPr/>
            <p:nvPr/>
          </p:nvSpPr>
          <p:spPr>
            <a:xfrm rot="5400000">
              <a:off x="2670225" y="1499529"/>
              <a:ext cx="1025310" cy="561976"/>
            </a:xfrm>
            <a:prstGeom prst="triangle">
              <a:avLst>
                <a:gd name="adj" fmla="val 50806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518505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A030A5-962E-EB00-7A15-72CAE8509A32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8B13365-928E-9237-E4C5-FC2465269436}"/>
              </a:ext>
            </a:extLst>
          </p:cNvPr>
          <p:cNvGrpSpPr/>
          <p:nvPr/>
        </p:nvGrpSpPr>
        <p:grpSpPr>
          <a:xfrm>
            <a:off x="1074420" y="2792729"/>
            <a:ext cx="9364979" cy="81915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E2F6572-28BF-ECD2-F61B-7D505776BF79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98583E-87E2-5062-816C-EA02F8541935}"/>
                </a:ext>
              </a:extLst>
            </p:cNvPr>
            <p:cNvSpPr txBox="1"/>
            <p:nvPr/>
          </p:nvSpPr>
          <p:spPr>
            <a:xfrm>
              <a:off x="3550242" y="3482631"/>
              <a:ext cx="5400888" cy="100091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Excel Hospitality Performance Dashboard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42016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E9C06-C723-2F0B-2195-906C8CFF1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778356-22DD-45CD-1B72-BFF899E261FB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7AB5AC-EA7E-605C-9342-91FA6BC81860}"/>
              </a:ext>
            </a:extLst>
          </p:cNvPr>
          <p:cNvGrpSpPr/>
          <p:nvPr/>
        </p:nvGrpSpPr>
        <p:grpSpPr>
          <a:xfrm>
            <a:off x="3495673" y="443207"/>
            <a:ext cx="4895851" cy="46101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AFD7A5C-3F53-7278-71B6-7615F0020058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5DDB50-B326-25D8-4DBE-8C779D1C4341}"/>
                </a:ext>
              </a:extLst>
            </p:cNvPr>
            <p:cNvSpPr txBox="1"/>
            <p:nvPr/>
          </p:nvSpPr>
          <p:spPr>
            <a:xfrm>
              <a:off x="3550243" y="3482630"/>
              <a:ext cx="5400888" cy="11232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Excel </a:t>
              </a:r>
              <a:r>
                <a:rPr lang="en-US" sz="1600" b="1" dirty="0"/>
                <a:t>Hospitality Performance Dashboard</a:t>
              </a:r>
              <a:endParaRPr lang="en-US" sz="1600" dirty="0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4CA192-2298-502E-E92A-6B6081174168}"/>
              </a:ext>
            </a:extLst>
          </p:cNvPr>
          <p:cNvSpPr/>
          <p:nvPr/>
        </p:nvSpPr>
        <p:spPr>
          <a:xfrm>
            <a:off x="6211775" y="1744980"/>
            <a:ext cx="5311140" cy="4744832"/>
          </a:xfrm>
          <a:prstGeom prst="roundRect">
            <a:avLst>
              <a:gd name="adj" fmla="val 163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05CF49-9254-FA61-6D9D-B5441689F0E3}"/>
              </a:ext>
            </a:extLst>
          </p:cNvPr>
          <p:cNvSpPr txBox="1"/>
          <p:nvPr/>
        </p:nvSpPr>
        <p:spPr>
          <a:xfrm>
            <a:off x="7522415" y="1872736"/>
            <a:ext cx="26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CA83FC-AEC2-5D06-9816-8F59F2B1EA70}"/>
              </a:ext>
            </a:extLst>
          </p:cNvPr>
          <p:cNvSpPr txBox="1"/>
          <p:nvPr/>
        </p:nvSpPr>
        <p:spPr>
          <a:xfrm>
            <a:off x="6569915" y="2537462"/>
            <a:ext cx="4594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Designing the dashboard layout to present multiple metrics clearly without clutter·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Ensuring Pivot Tables and charts update correctly with slicers and filters.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F566CE-A454-C6B2-DD9F-2356D996A57D}"/>
              </a:ext>
            </a:extLst>
          </p:cNvPr>
          <p:cNvSpPr/>
          <p:nvPr/>
        </p:nvSpPr>
        <p:spPr>
          <a:xfrm>
            <a:off x="396239" y="1744979"/>
            <a:ext cx="5311140" cy="4744833"/>
          </a:xfrm>
          <a:prstGeom prst="roundRect">
            <a:avLst>
              <a:gd name="adj" fmla="val 163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4E7B7-0093-0D7C-B541-E935FA69FFCA}"/>
              </a:ext>
            </a:extLst>
          </p:cNvPr>
          <p:cNvSpPr txBox="1"/>
          <p:nvPr/>
        </p:nvSpPr>
        <p:spPr>
          <a:xfrm>
            <a:off x="1706878" y="1870952"/>
            <a:ext cx="26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Dashboard Features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A5862C-420D-6E4F-DF86-9C07C5B0203F}"/>
              </a:ext>
            </a:extLst>
          </p:cNvPr>
          <p:cNvSpPr txBox="1"/>
          <p:nvPr/>
        </p:nvSpPr>
        <p:spPr>
          <a:xfrm>
            <a:off x="870584" y="2537462"/>
            <a:ext cx="436244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Dynamic Excel dashboard is built using interactive filters and visuals, allowing users to analyze performance by month and 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includes Weekday vs Weekend performance in terms of bookings and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Booking status distribution (checked-out, cancelled, no-show).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Revenue contribution by room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Weekly occupancy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Revenue comparison across cities and hotels.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also tracks weekly trends of revenue and bookings to understand demand patterns over time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76195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2" grpId="0" animBg="1"/>
      <p:bldP spid="5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0877E-8A2E-DCF4-2D50-947A6E85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5228CF-7200-9DDB-7CB5-FB0DD97840FC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24982B-1829-C70D-D759-FDB3564A51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3" y="1168400"/>
            <a:ext cx="12101911" cy="56896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81D09E2-75B4-3FC5-F726-7D34B86CC81C}"/>
              </a:ext>
            </a:extLst>
          </p:cNvPr>
          <p:cNvGrpSpPr/>
          <p:nvPr/>
        </p:nvGrpSpPr>
        <p:grpSpPr>
          <a:xfrm>
            <a:off x="3495673" y="443207"/>
            <a:ext cx="4895851" cy="46101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E0F7D08-0BF7-1AEE-8C5E-D74F60D3BAF7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51B0B9E-1EBB-7E9F-96B9-80A2D81EE09A}"/>
                </a:ext>
              </a:extLst>
            </p:cNvPr>
            <p:cNvSpPr txBox="1"/>
            <p:nvPr/>
          </p:nvSpPr>
          <p:spPr>
            <a:xfrm>
              <a:off x="3550243" y="3482630"/>
              <a:ext cx="5400888" cy="11232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Excel </a:t>
              </a:r>
              <a:r>
                <a:rPr lang="en-US" sz="1600" b="1" dirty="0"/>
                <a:t>Hospitality Performance Dashboard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63066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C7207-CCC9-32B3-8015-CEA709A0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CC5D7D-41D1-DE77-34EC-3B24D24ABF1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9409C78-C7DE-7C0C-C0DA-0843A6CBF912}"/>
              </a:ext>
            </a:extLst>
          </p:cNvPr>
          <p:cNvGrpSpPr/>
          <p:nvPr/>
        </p:nvGrpSpPr>
        <p:grpSpPr>
          <a:xfrm>
            <a:off x="7268056" y="180862"/>
            <a:ext cx="4122420" cy="1732147"/>
            <a:chOff x="7052310" y="762476"/>
            <a:chExt cx="4122420" cy="135778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CB550F7-4BD4-6D5A-D608-E8D42D93D29E}"/>
                </a:ext>
              </a:extLst>
            </p:cNvPr>
            <p:cNvSpPr/>
            <p:nvPr/>
          </p:nvSpPr>
          <p:spPr>
            <a:xfrm>
              <a:off x="7052310" y="762476"/>
              <a:ext cx="4122420" cy="10896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KPI Overview</a:t>
              </a:r>
            </a:p>
            <a:p>
              <a:pPr algn="ctr"/>
              <a:endParaRPr lang="en-IN" sz="1600" b="1" u="sng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KPI cards present a quick summary of business performance including revenue, bookings, occupancy rate, capacity utilization, and cancellation percentage</a:t>
              </a: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55308D49-7B21-9DFD-80F2-FB59AA3570BF}"/>
                </a:ext>
              </a:extLst>
            </p:cNvPr>
            <p:cNvSpPr/>
            <p:nvPr/>
          </p:nvSpPr>
          <p:spPr>
            <a:xfrm>
              <a:off x="8846820" y="1712595"/>
              <a:ext cx="533400" cy="407670"/>
            </a:xfrm>
            <a:prstGeom prst="down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3C4D90-66ED-C912-FA66-7F34E6081031}"/>
              </a:ext>
            </a:extLst>
          </p:cNvPr>
          <p:cNvGrpSpPr/>
          <p:nvPr/>
        </p:nvGrpSpPr>
        <p:grpSpPr>
          <a:xfrm>
            <a:off x="7268055" y="647120"/>
            <a:ext cx="4122420" cy="1781730"/>
            <a:chOff x="7052310" y="2185035"/>
            <a:chExt cx="4122420" cy="14306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6846D53-0429-E61A-3FF2-D218130E14EF}"/>
                </a:ext>
              </a:extLst>
            </p:cNvPr>
            <p:cNvSpPr/>
            <p:nvPr/>
          </p:nvSpPr>
          <p:spPr>
            <a:xfrm>
              <a:off x="7052310" y="2185035"/>
              <a:ext cx="4122420" cy="1089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Demand and Revenue </a:t>
              </a:r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Trend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Weekly trend visuals help track changes in bookings and revenue, enabling identification of peak and low demand periods</a:t>
              </a: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FC3C1EF1-290D-710A-762B-26CA96A0647E}"/>
                </a:ext>
              </a:extLst>
            </p:cNvPr>
            <p:cNvSpPr/>
            <p:nvPr/>
          </p:nvSpPr>
          <p:spPr>
            <a:xfrm>
              <a:off x="8846820" y="3208020"/>
              <a:ext cx="533400" cy="407670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0CAE27-1C8A-B0ED-CB95-F404C6B194EF}"/>
              </a:ext>
            </a:extLst>
          </p:cNvPr>
          <p:cNvGrpSpPr/>
          <p:nvPr/>
        </p:nvGrpSpPr>
        <p:grpSpPr>
          <a:xfrm>
            <a:off x="7268054" y="1250177"/>
            <a:ext cx="4122420" cy="1818430"/>
            <a:chOff x="7109460" y="3669030"/>
            <a:chExt cx="4122420" cy="14763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CC0849-7F2F-BC0A-77B2-068F0DD74073}"/>
                </a:ext>
              </a:extLst>
            </p:cNvPr>
            <p:cNvSpPr/>
            <p:nvPr/>
          </p:nvSpPr>
          <p:spPr>
            <a:xfrm>
              <a:off x="7109460" y="3669030"/>
              <a:ext cx="4122420" cy="10896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Category &amp; location Insights</a:t>
              </a:r>
            </a:p>
            <a:p>
              <a:pPr algn="ctr"/>
              <a:endParaRPr lang="en-IN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Room class and city-level performance analysis highlight key revenue-generating segments and top-performing hotel locations.</a:t>
              </a: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3AF97DF3-31D1-3BCE-CB83-83F4850871B6}"/>
                </a:ext>
              </a:extLst>
            </p:cNvPr>
            <p:cNvSpPr/>
            <p:nvPr/>
          </p:nvSpPr>
          <p:spPr>
            <a:xfrm>
              <a:off x="8846820" y="4737735"/>
              <a:ext cx="533400" cy="407670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09044FD-5F6B-393B-53D0-76E81F1E993C}"/>
              </a:ext>
            </a:extLst>
          </p:cNvPr>
          <p:cNvSpPr/>
          <p:nvPr/>
        </p:nvSpPr>
        <p:spPr>
          <a:xfrm>
            <a:off x="7268054" y="1668222"/>
            <a:ext cx="4122420" cy="1357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Interactive Performance Analysis</a:t>
            </a:r>
            <a:br>
              <a:rPr lang="en-IN" sz="1600" b="1" dirty="0">
                <a:solidFill>
                  <a:schemeClr val="tx1"/>
                </a:solidFill>
              </a:rPr>
            </a:br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Interactive slicers for month and city allow users to dynamically filter data and perform quick performance comparisons for better decision-making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64E9DD-82CF-BBAF-0E32-CDFCB5F67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8524"/>
            <a:ext cx="6888367" cy="323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24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89053-A77E-950E-6598-83D4C8F7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025D8D-64B3-4EBD-4FF3-95246E32B292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51AD02-F3AB-C4DD-75B6-C82C01DEE952}"/>
              </a:ext>
            </a:extLst>
          </p:cNvPr>
          <p:cNvGrpSpPr/>
          <p:nvPr/>
        </p:nvGrpSpPr>
        <p:grpSpPr>
          <a:xfrm>
            <a:off x="7268056" y="180862"/>
            <a:ext cx="4122420" cy="1732147"/>
            <a:chOff x="7052310" y="762476"/>
            <a:chExt cx="4122420" cy="135778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9FC5D34-9B3A-1F9F-3DFB-788A191E8483}"/>
                </a:ext>
              </a:extLst>
            </p:cNvPr>
            <p:cNvSpPr/>
            <p:nvPr/>
          </p:nvSpPr>
          <p:spPr>
            <a:xfrm>
              <a:off x="7052310" y="762476"/>
              <a:ext cx="4122420" cy="10896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KPI Overview</a:t>
              </a:r>
            </a:p>
            <a:p>
              <a:pPr algn="ctr"/>
              <a:endParaRPr lang="en-IN" sz="1600" b="1" u="sng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KPI cards present a quick summary of business performance including revenue, bookings, occupancy rate, capacity utilization, and cancellation percentage</a:t>
              </a: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C8F5C837-27A3-2BB9-71C0-5DF34725DE82}"/>
                </a:ext>
              </a:extLst>
            </p:cNvPr>
            <p:cNvSpPr/>
            <p:nvPr/>
          </p:nvSpPr>
          <p:spPr>
            <a:xfrm>
              <a:off x="8846820" y="1712595"/>
              <a:ext cx="533400" cy="407670"/>
            </a:xfrm>
            <a:prstGeom prst="down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28E509-4A89-74BA-CCF7-CE37F20E74D2}"/>
              </a:ext>
            </a:extLst>
          </p:cNvPr>
          <p:cNvGrpSpPr/>
          <p:nvPr/>
        </p:nvGrpSpPr>
        <p:grpSpPr>
          <a:xfrm>
            <a:off x="7268054" y="1948893"/>
            <a:ext cx="4122420" cy="1781730"/>
            <a:chOff x="7052310" y="2185035"/>
            <a:chExt cx="4122420" cy="14306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3FAA1D-02F9-7EDA-5357-8B368FE96A74}"/>
                </a:ext>
              </a:extLst>
            </p:cNvPr>
            <p:cNvSpPr/>
            <p:nvPr/>
          </p:nvSpPr>
          <p:spPr>
            <a:xfrm>
              <a:off x="7052310" y="2185035"/>
              <a:ext cx="4122420" cy="1089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Demand and Revenue </a:t>
              </a:r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Trend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Weekly trend visuals help track changes in bookings and revenue, enabling identification of peak and low demand periods</a:t>
              </a: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F29D1B32-7834-A8DF-1363-7315C078DFE6}"/>
                </a:ext>
              </a:extLst>
            </p:cNvPr>
            <p:cNvSpPr/>
            <p:nvPr/>
          </p:nvSpPr>
          <p:spPr>
            <a:xfrm>
              <a:off x="8846820" y="3208020"/>
              <a:ext cx="533400" cy="407670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290697-AB7F-88E1-39FA-579D75644436}"/>
              </a:ext>
            </a:extLst>
          </p:cNvPr>
          <p:cNvGrpSpPr/>
          <p:nvPr/>
        </p:nvGrpSpPr>
        <p:grpSpPr>
          <a:xfrm>
            <a:off x="7268054" y="3730623"/>
            <a:ext cx="4122420" cy="1818430"/>
            <a:chOff x="7109460" y="3669030"/>
            <a:chExt cx="4122420" cy="14763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104886-B9B4-0AEA-12C0-9DE75C7F0280}"/>
                </a:ext>
              </a:extLst>
            </p:cNvPr>
            <p:cNvSpPr/>
            <p:nvPr/>
          </p:nvSpPr>
          <p:spPr>
            <a:xfrm>
              <a:off x="7109460" y="3669030"/>
              <a:ext cx="4122420" cy="10896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Category &amp; location Insights</a:t>
              </a:r>
            </a:p>
            <a:p>
              <a:pPr algn="ctr"/>
              <a:endParaRPr lang="en-IN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Room class and city-level performance analysis highlight key revenue-generating segments and top-performing hotel locations</a:t>
              </a:r>
              <a:r>
                <a:rPr lang="en-US" sz="16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3E127FA8-B5A0-BC0E-53C5-281DF62C2BE5}"/>
                </a:ext>
              </a:extLst>
            </p:cNvPr>
            <p:cNvSpPr/>
            <p:nvPr/>
          </p:nvSpPr>
          <p:spPr>
            <a:xfrm>
              <a:off x="8846820" y="4737735"/>
              <a:ext cx="533400" cy="407670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1B182ED-1479-392A-2B69-93B5ABBEE5BD}"/>
              </a:ext>
            </a:extLst>
          </p:cNvPr>
          <p:cNvSpPr/>
          <p:nvPr/>
        </p:nvSpPr>
        <p:spPr>
          <a:xfrm>
            <a:off x="7268054" y="5500944"/>
            <a:ext cx="4122420" cy="1357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Interactive Performance Analysis</a:t>
            </a:r>
            <a:br>
              <a:rPr lang="en-IN" sz="1600" b="1" dirty="0">
                <a:solidFill>
                  <a:schemeClr val="tx1"/>
                </a:solidFill>
              </a:rPr>
            </a:br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Interactive slicers for month and city allow users to dynamically filter data and perform quick performance comparisons for better decision-making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49C54B-DB14-B1D2-39CB-444C3097A9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8524"/>
            <a:ext cx="6888367" cy="323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36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84A4B-9D88-885E-8C3A-7CC915C2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3CFC96-3B55-7C84-5551-0AA2FF79DCB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F8A1F8-C34B-BC55-CCB8-3CC948D4577F}"/>
              </a:ext>
            </a:extLst>
          </p:cNvPr>
          <p:cNvGrpSpPr/>
          <p:nvPr/>
        </p:nvGrpSpPr>
        <p:grpSpPr>
          <a:xfrm>
            <a:off x="1074420" y="2792729"/>
            <a:ext cx="9364979" cy="81915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0A9CDAE-884F-3EA3-B19C-A4A26B3759A0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6C8D37-2CE8-40E5-4062-F8365A202C30}"/>
                </a:ext>
              </a:extLst>
            </p:cNvPr>
            <p:cNvSpPr txBox="1"/>
            <p:nvPr/>
          </p:nvSpPr>
          <p:spPr>
            <a:xfrm>
              <a:off x="3550242" y="3482631"/>
              <a:ext cx="5400888" cy="108310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Power BI Hospitality Performance Dashboard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1035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A9EBE-0408-06B8-9385-F30C2833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668145-2256-BDE5-5CC8-748EB568AB2B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A021DB-844E-C5E9-1727-971154CB49B5}"/>
              </a:ext>
            </a:extLst>
          </p:cNvPr>
          <p:cNvGrpSpPr/>
          <p:nvPr/>
        </p:nvGrpSpPr>
        <p:grpSpPr>
          <a:xfrm>
            <a:off x="3509009" y="354329"/>
            <a:ext cx="4895851" cy="46101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9C8959-38B2-0CC7-7BFD-39BFADD090EF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B7A855-CF4C-68E1-4A71-696AEA8215F6}"/>
                </a:ext>
              </a:extLst>
            </p:cNvPr>
            <p:cNvSpPr txBox="1"/>
            <p:nvPr/>
          </p:nvSpPr>
          <p:spPr>
            <a:xfrm>
              <a:off x="3550243" y="3482630"/>
              <a:ext cx="5400888" cy="11232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Power</a:t>
              </a:r>
              <a:r>
                <a:rPr lang="en-US" sz="1600" b="1" dirty="0"/>
                <a:t> BI Hospitality Performance Dashboard</a:t>
              </a:r>
              <a:endParaRPr lang="en-US" sz="1600" dirty="0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D34E98-CDD9-FDE9-CFB6-AD05C2F52845}"/>
              </a:ext>
            </a:extLst>
          </p:cNvPr>
          <p:cNvSpPr/>
          <p:nvPr/>
        </p:nvSpPr>
        <p:spPr>
          <a:xfrm>
            <a:off x="6211775" y="1744980"/>
            <a:ext cx="5311140" cy="4297680"/>
          </a:xfrm>
          <a:prstGeom prst="roundRect">
            <a:avLst>
              <a:gd name="adj" fmla="val 163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74AB1E-DE88-6FC6-2F86-8BA7D0291A1F}"/>
              </a:ext>
            </a:extLst>
          </p:cNvPr>
          <p:cNvSpPr txBox="1"/>
          <p:nvPr/>
        </p:nvSpPr>
        <p:spPr>
          <a:xfrm>
            <a:off x="7687103" y="1855708"/>
            <a:ext cx="26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69519-B1E1-25BE-3A86-C4021DE5E79E}"/>
              </a:ext>
            </a:extLst>
          </p:cNvPr>
          <p:cNvSpPr txBox="1"/>
          <p:nvPr/>
        </p:nvSpPr>
        <p:spPr>
          <a:xfrm>
            <a:off x="6553200" y="2335768"/>
            <a:ext cx="44515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Standardizing and formatting booking, hotel, and room data for consistent reporting.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Building correct data model relationships across multiple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accurate DAX KPIs for Occupancy, Cancellation Rate, and Revenue splits.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Optimizing dashboard performance and selecting clear visuals without overcrowding.</a:t>
            </a:r>
            <a:endParaRPr lang="en-IN" sz="16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0712C8-EBB5-DF32-E69A-9E446FECE1B9}"/>
              </a:ext>
            </a:extLst>
          </p:cNvPr>
          <p:cNvSpPr/>
          <p:nvPr/>
        </p:nvSpPr>
        <p:spPr>
          <a:xfrm>
            <a:off x="417624" y="1744980"/>
            <a:ext cx="5311140" cy="4297680"/>
          </a:xfrm>
          <a:prstGeom prst="roundRect">
            <a:avLst>
              <a:gd name="adj" fmla="val 163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2C1888-BB84-64FE-5A5C-89B331BB562F}"/>
              </a:ext>
            </a:extLst>
          </p:cNvPr>
          <p:cNvSpPr txBox="1"/>
          <p:nvPr/>
        </p:nvSpPr>
        <p:spPr>
          <a:xfrm>
            <a:off x="1892952" y="1855708"/>
            <a:ext cx="26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Dashboard Features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31978C-17BF-258C-512A-8BEAB3165A69}"/>
              </a:ext>
            </a:extLst>
          </p:cNvPr>
          <p:cNvSpPr txBox="1"/>
          <p:nvPr/>
        </p:nvSpPr>
        <p:spPr>
          <a:xfrm>
            <a:off x="762000" y="2335768"/>
            <a:ext cx="43920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Tracks KPIs like Revenue, Bookings, Occupancy %, Cancellation %, and Booking Status with real-time metric cards.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Uses interactive filters for City, Hotel, Room Class, and Week to compare performance quickly.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Shows weekly revenue and booking trends to spot growth and seasonal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drill-down from city to hotel to room category for detailed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Includes comparison visuals for room class, weekday vs weekend, and booking status distribution.</a:t>
            </a: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90977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2" grpId="0" animBg="1"/>
      <p:bldP spid="5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725CC-5DC9-FC07-6C5A-97F1DA6F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0C4EBB-F855-B080-95DB-B34DC2737639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F30D4F-B827-6F26-8E98-50BFE2801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728826"/>
            <a:ext cx="12192000" cy="612917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E108AF1-8A9D-AD7C-9B2E-A294A6D6CA34}"/>
              </a:ext>
            </a:extLst>
          </p:cNvPr>
          <p:cNvGrpSpPr/>
          <p:nvPr/>
        </p:nvGrpSpPr>
        <p:grpSpPr>
          <a:xfrm>
            <a:off x="3153409" y="133907"/>
            <a:ext cx="4895851" cy="46101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19699B9-65DC-6FC5-2CA7-81221A97828C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4B6341F-059B-4EA7-9FC6-317011DB10A8}"/>
                </a:ext>
              </a:extLst>
            </p:cNvPr>
            <p:cNvSpPr txBox="1"/>
            <p:nvPr/>
          </p:nvSpPr>
          <p:spPr>
            <a:xfrm>
              <a:off x="3550243" y="3482630"/>
              <a:ext cx="5400888" cy="11232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Power</a:t>
              </a:r>
              <a:r>
                <a:rPr lang="en-US" sz="1600" b="1" dirty="0"/>
                <a:t> BI Hospitality Performance Dashboard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09436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FB368-0BBE-2AFC-857C-353FFF17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C2EED3-2509-90ED-EF93-FC784C0EF9E6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19BCD4-5171-94C7-9E4B-F1694B72E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36" y="1813560"/>
            <a:ext cx="6334617" cy="355854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C86D01D-8A5A-AC34-C5F4-561199B34F71}"/>
              </a:ext>
            </a:extLst>
          </p:cNvPr>
          <p:cNvGrpSpPr/>
          <p:nvPr/>
        </p:nvGrpSpPr>
        <p:grpSpPr>
          <a:xfrm>
            <a:off x="7052310" y="674370"/>
            <a:ext cx="4122420" cy="1445895"/>
            <a:chOff x="7052310" y="674370"/>
            <a:chExt cx="4122420" cy="144589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296EBA1-7043-31BA-EF5C-C1C19B1B9013}"/>
                </a:ext>
              </a:extLst>
            </p:cNvPr>
            <p:cNvSpPr/>
            <p:nvPr/>
          </p:nvSpPr>
          <p:spPr>
            <a:xfrm>
              <a:off x="7052310" y="674370"/>
              <a:ext cx="4122420" cy="10896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KPI Overview</a:t>
              </a:r>
            </a:p>
            <a:p>
              <a:pPr algn="ctr"/>
              <a:endParaRPr lang="en-IN" sz="1600" b="1" u="sng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KPI cards provide a quick snapshot of revenue, bookings, occupancy, and cancellation performance</a:t>
              </a: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0AF6B2B4-7BDC-9A52-8487-ACBA27A182C0}"/>
                </a:ext>
              </a:extLst>
            </p:cNvPr>
            <p:cNvSpPr/>
            <p:nvPr/>
          </p:nvSpPr>
          <p:spPr>
            <a:xfrm>
              <a:off x="8846820" y="1712595"/>
              <a:ext cx="533400" cy="407670"/>
            </a:xfrm>
            <a:prstGeom prst="down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C67F71-A0DE-397D-862F-05F490E2A5C1}"/>
              </a:ext>
            </a:extLst>
          </p:cNvPr>
          <p:cNvGrpSpPr/>
          <p:nvPr/>
        </p:nvGrpSpPr>
        <p:grpSpPr>
          <a:xfrm>
            <a:off x="7052310" y="1094422"/>
            <a:ext cx="4122420" cy="1430655"/>
            <a:chOff x="7052310" y="2185035"/>
            <a:chExt cx="4122420" cy="14306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7553C48-167E-718A-EFF0-46A94D0AB4D0}"/>
                </a:ext>
              </a:extLst>
            </p:cNvPr>
            <p:cNvSpPr/>
            <p:nvPr/>
          </p:nvSpPr>
          <p:spPr>
            <a:xfrm>
              <a:off x="7052310" y="2185035"/>
              <a:ext cx="4122420" cy="1089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Trend Analysis</a:t>
              </a:r>
            </a:p>
            <a:p>
              <a:pPr algn="ctr"/>
              <a:endParaRPr lang="en-IN" sz="16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Trend charts reveal weekly performance patterns and demand fluctuations</a:t>
              </a: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CBC1B841-9B05-B1B9-9786-FF45D930F01E}"/>
                </a:ext>
              </a:extLst>
            </p:cNvPr>
            <p:cNvSpPr/>
            <p:nvPr/>
          </p:nvSpPr>
          <p:spPr>
            <a:xfrm>
              <a:off x="8846820" y="3208020"/>
              <a:ext cx="533400" cy="407670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A5BB5B-4030-32F7-FE88-8E08DB817EB2}"/>
              </a:ext>
            </a:extLst>
          </p:cNvPr>
          <p:cNvGrpSpPr/>
          <p:nvPr/>
        </p:nvGrpSpPr>
        <p:grpSpPr>
          <a:xfrm>
            <a:off x="7052310" y="1499711"/>
            <a:ext cx="4122420" cy="1476375"/>
            <a:chOff x="7109460" y="3669030"/>
            <a:chExt cx="4122420" cy="14763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D9109C-F1DC-DBDC-90B3-AD392703D282}"/>
                </a:ext>
              </a:extLst>
            </p:cNvPr>
            <p:cNvSpPr/>
            <p:nvPr/>
          </p:nvSpPr>
          <p:spPr>
            <a:xfrm>
              <a:off x="7109460" y="3669030"/>
              <a:ext cx="4122420" cy="10896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Segment </a:t>
              </a:r>
              <a:r>
                <a:rPr lang="en-IN" sz="1600" b="1" dirty="0">
                  <a:solidFill>
                    <a:schemeClr val="tx1"/>
                  </a:solidFill>
                </a:rPr>
                <a:t>Performance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City and room category visuals identify top revenue contributors</a:t>
              </a: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3AB8FD6A-A6C7-9BFA-A347-A5E2BA7898A8}"/>
                </a:ext>
              </a:extLst>
            </p:cNvPr>
            <p:cNvSpPr/>
            <p:nvPr/>
          </p:nvSpPr>
          <p:spPr>
            <a:xfrm>
              <a:off x="8846820" y="4737735"/>
              <a:ext cx="533400" cy="407670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2480364-9A72-2752-DB88-2EA13ADBB8E8}"/>
              </a:ext>
            </a:extLst>
          </p:cNvPr>
          <p:cNvSpPr/>
          <p:nvPr/>
        </p:nvSpPr>
        <p:spPr>
          <a:xfrm>
            <a:off x="7052310" y="1893571"/>
            <a:ext cx="4122420" cy="108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Interactive Analysis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Filters and drill-down enable fast, user-driven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4029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C5A0E-1871-99B6-9CA7-09D8A042C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01EE8E-0A3B-CFB3-37BC-7459BA1057A9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EEA110-29C4-E80F-6CCA-5ADC56910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36" y="1813560"/>
            <a:ext cx="6334617" cy="355854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F043EE8-8E0C-F818-C557-3153A1AD430B}"/>
              </a:ext>
            </a:extLst>
          </p:cNvPr>
          <p:cNvGrpSpPr/>
          <p:nvPr/>
        </p:nvGrpSpPr>
        <p:grpSpPr>
          <a:xfrm>
            <a:off x="7052310" y="674370"/>
            <a:ext cx="4122420" cy="1445895"/>
            <a:chOff x="7052310" y="674370"/>
            <a:chExt cx="4122420" cy="144589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14DE47F-17BB-8976-B816-79C3DF12B9AB}"/>
                </a:ext>
              </a:extLst>
            </p:cNvPr>
            <p:cNvSpPr/>
            <p:nvPr/>
          </p:nvSpPr>
          <p:spPr>
            <a:xfrm>
              <a:off x="7052310" y="674370"/>
              <a:ext cx="4122420" cy="10896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KPI Overview</a:t>
              </a:r>
            </a:p>
            <a:p>
              <a:pPr algn="ctr"/>
              <a:endParaRPr lang="en-IN" sz="1600" b="1" u="sng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KPI cards provide a quick snapshot of revenue, bookings, occupancy, and cancellation performance</a:t>
              </a: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8743A6D6-99A2-67D1-9774-5E2DC044D79B}"/>
                </a:ext>
              </a:extLst>
            </p:cNvPr>
            <p:cNvSpPr/>
            <p:nvPr/>
          </p:nvSpPr>
          <p:spPr>
            <a:xfrm>
              <a:off x="8846820" y="1712595"/>
              <a:ext cx="533400" cy="407670"/>
            </a:xfrm>
            <a:prstGeom prst="down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62E7F0-9D90-F908-3181-9D51212BAC9B}"/>
              </a:ext>
            </a:extLst>
          </p:cNvPr>
          <p:cNvGrpSpPr/>
          <p:nvPr/>
        </p:nvGrpSpPr>
        <p:grpSpPr>
          <a:xfrm>
            <a:off x="7052310" y="2185035"/>
            <a:ext cx="4122420" cy="1430655"/>
            <a:chOff x="7052310" y="2185035"/>
            <a:chExt cx="4122420" cy="14306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B995716-3ED2-92BB-F0ED-DFC0C54989AD}"/>
                </a:ext>
              </a:extLst>
            </p:cNvPr>
            <p:cNvSpPr/>
            <p:nvPr/>
          </p:nvSpPr>
          <p:spPr>
            <a:xfrm>
              <a:off x="7052310" y="2185035"/>
              <a:ext cx="4122420" cy="1089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Trend Analysis</a:t>
              </a:r>
            </a:p>
            <a:p>
              <a:pPr algn="ctr"/>
              <a:endParaRPr lang="en-IN" sz="16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Trend charts reveal weekly performance patterns and demand fluctuations</a:t>
              </a: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880B01CC-F6B1-884C-370C-409837204B7B}"/>
                </a:ext>
              </a:extLst>
            </p:cNvPr>
            <p:cNvSpPr/>
            <p:nvPr/>
          </p:nvSpPr>
          <p:spPr>
            <a:xfrm>
              <a:off x="8846820" y="3208020"/>
              <a:ext cx="533400" cy="407670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1720E9-857F-C1EF-06A4-2644B3E0166E}"/>
              </a:ext>
            </a:extLst>
          </p:cNvPr>
          <p:cNvGrpSpPr/>
          <p:nvPr/>
        </p:nvGrpSpPr>
        <p:grpSpPr>
          <a:xfrm>
            <a:off x="7109460" y="3669030"/>
            <a:ext cx="4122420" cy="1476375"/>
            <a:chOff x="7109460" y="3669030"/>
            <a:chExt cx="4122420" cy="14763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A7466E2-3ED9-B657-6B7A-B28E06A4DB1F}"/>
                </a:ext>
              </a:extLst>
            </p:cNvPr>
            <p:cNvSpPr/>
            <p:nvPr/>
          </p:nvSpPr>
          <p:spPr>
            <a:xfrm>
              <a:off x="7109460" y="3669030"/>
              <a:ext cx="4122420" cy="10896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Segment </a:t>
              </a:r>
              <a:r>
                <a:rPr lang="en-IN" sz="1600" b="1" dirty="0">
                  <a:solidFill>
                    <a:schemeClr val="tx1"/>
                  </a:solidFill>
                </a:rPr>
                <a:t>Performance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City and room category visuals identify top revenue contributors</a:t>
              </a: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1A270B3E-5667-E261-188E-99E49121A608}"/>
                </a:ext>
              </a:extLst>
            </p:cNvPr>
            <p:cNvSpPr/>
            <p:nvPr/>
          </p:nvSpPr>
          <p:spPr>
            <a:xfrm>
              <a:off x="8846820" y="4737735"/>
              <a:ext cx="533400" cy="407670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27DEE9-B5A7-0B52-3F58-11CDAA33AF93}"/>
              </a:ext>
            </a:extLst>
          </p:cNvPr>
          <p:cNvSpPr/>
          <p:nvPr/>
        </p:nvSpPr>
        <p:spPr>
          <a:xfrm>
            <a:off x="7109460" y="5244466"/>
            <a:ext cx="4122420" cy="108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Interactive Analysis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Filters and drill-down enable fast, user-driven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2724513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9AC2F-7168-6E13-B957-F559EE8A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74C0296-258A-F117-1407-1891BA81D4AC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02B092-8B71-B939-9098-739799F15EA9}"/>
              </a:ext>
            </a:extLst>
          </p:cNvPr>
          <p:cNvGrpSpPr/>
          <p:nvPr/>
        </p:nvGrpSpPr>
        <p:grpSpPr>
          <a:xfrm>
            <a:off x="1074420" y="2792729"/>
            <a:ext cx="9364979" cy="81915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9172A16-E730-FBE2-FDF5-E8590725E7A0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462E3F-309C-FEFD-73B6-60B37393C689}"/>
                </a:ext>
              </a:extLst>
            </p:cNvPr>
            <p:cNvSpPr txBox="1"/>
            <p:nvPr/>
          </p:nvSpPr>
          <p:spPr>
            <a:xfrm>
              <a:off x="3550242" y="3482631"/>
              <a:ext cx="5400888" cy="100091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Tableau Hospitality Performance Dashboard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21933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A9C0B-605E-3C26-6449-3DE3C4C7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108C64-1B39-0D16-7417-FD86EE8CA63C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BA5E92-EEA6-355E-E02E-EC5CE441871E}"/>
              </a:ext>
            </a:extLst>
          </p:cNvPr>
          <p:cNvGrpSpPr/>
          <p:nvPr/>
        </p:nvGrpSpPr>
        <p:grpSpPr>
          <a:xfrm>
            <a:off x="3537584" y="342529"/>
            <a:ext cx="4895851" cy="46101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D7C736E-5D4D-EBBF-E99A-14D2E8D491A4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04A7ED-1CB7-66A8-1C96-58E5D97078AC}"/>
                </a:ext>
              </a:extLst>
            </p:cNvPr>
            <p:cNvSpPr txBox="1"/>
            <p:nvPr/>
          </p:nvSpPr>
          <p:spPr>
            <a:xfrm>
              <a:off x="3550243" y="3482630"/>
              <a:ext cx="5400888" cy="102965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Tableau Hospitality Performance Dashboard</a:t>
              </a:r>
              <a:endParaRPr lang="en-US" sz="1600" dirty="0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106111-78FE-4DBD-2714-D96D442F9DD4}"/>
              </a:ext>
            </a:extLst>
          </p:cNvPr>
          <p:cNvSpPr/>
          <p:nvPr/>
        </p:nvSpPr>
        <p:spPr>
          <a:xfrm>
            <a:off x="6211775" y="1744980"/>
            <a:ext cx="5311140" cy="4744832"/>
          </a:xfrm>
          <a:prstGeom prst="roundRect">
            <a:avLst>
              <a:gd name="adj" fmla="val 163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84089B-F038-26BE-0D8F-7B00EE71EA16}"/>
              </a:ext>
            </a:extLst>
          </p:cNvPr>
          <p:cNvSpPr txBox="1"/>
          <p:nvPr/>
        </p:nvSpPr>
        <p:spPr>
          <a:xfrm>
            <a:off x="7434047" y="1855708"/>
            <a:ext cx="26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Challenges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65377E-DE3C-DF6D-B413-21F32013EC81}"/>
              </a:ext>
            </a:extLst>
          </p:cNvPr>
          <p:cNvSpPr txBox="1"/>
          <p:nvPr/>
        </p:nvSpPr>
        <p:spPr>
          <a:xfrm>
            <a:off x="6553199" y="2225040"/>
            <a:ext cx="44515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calculated fields for occupancy, utilization, and status metrics instead of predefined measures.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Managing dimensions and measures correctly while building multiple worksheets.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Applying and syncing filter cards across all dashboard sheets.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Combining multiple visual sheets into one clean, aligned dashboard layout.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Maintaining consistent scales, colors, and labels across different charts.</a:t>
            </a:r>
            <a:endParaRPr lang="en-IN" sz="16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D7C247-E92E-DAD6-4238-43A8A0E82B13}"/>
              </a:ext>
            </a:extLst>
          </p:cNvPr>
          <p:cNvSpPr/>
          <p:nvPr/>
        </p:nvSpPr>
        <p:spPr>
          <a:xfrm>
            <a:off x="417624" y="1744979"/>
            <a:ext cx="5311140" cy="4744833"/>
          </a:xfrm>
          <a:prstGeom prst="roundRect">
            <a:avLst>
              <a:gd name="adj" fmla="val 163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8C3CC-916C-B4E5-DB42-7DB52423C01E}"/>
              </a:ext>
            </a:extLst>
          </p:cNvPr>
          <p:cNvSpPr txBox="1"/>
          <p:nvPr/>
        </p:nvSpPr>
        <p:spPr>
          <a:xfrm>
            <a:off x="1892952" y="1855708"/>
            <a:ext cx="26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Dashboard Features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13AD0C-292B-F0EB-56A3-D13BD0DFBB06}"/>
              </a:ext>
            </a:extLst>
          </p:cNvPr>
          <p:cNvSpPr txBox="1"/>
          <p:nvPr/>
        </p:nvSpPr>
        <p:spPr>
          <a:xfrm>
            <a:off x="762110" y="2225040"/>
            <a:ext cx="439208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KPI tiles showing Total Revenue, Occupancy %, Utilized Capacity, Total Bookings, and Cancellation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Class-wise revenue bar charts comparing Elite, Premium, Presidential, and Standard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City and hotel-wise revenue visuals for location performance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Booking status breakdown showing Checked-out, Cancelled, and No-show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Time-based analysis with daily revenue trend and weekly revenue vs booking charts.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Weekday vs Weekend revenue and booking comparison 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Interactive filter panels for Room Class, Category, and City selection.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60725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2" grpId="0" animBg="1"/>
      <p:bldP spid="5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04780D-31F4-E824-3D9F-B7B90028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764953-6DAC-BE63-30A6-C82BF8A3DAFD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BB7096-62E4-8C63-DBD6-192C9D399105}"/>
              </a:ext>
            </a:extLst>
          </p:cNvPr>
          <p:cNvGrpSpPr/>
          <p:nvPr/>
        </p:nvGrpSpPr>
        <p:grpSpPr>
          <a:xfrm>
            <a:off x="3153409" y="133907"/>
            <a:ext cx="4895851" cy="46101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2A78BC9-DC1A-2DA3-23C1-948A8DB29EFB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15CB76-EA20-7730-EC63-E8678AC4E0F3}"/>
                </a:ext>
              </a:extLst>
            </p:cNvPr>
            <p:cNvSpPr txBox="1"/>
            <p:nvPr/>
          </p:nvSpPr>
          <p:spPr>
            <a:xfrm>
              <a:off x="3550243" y="3482630"/>
              <a:ext cx="5400888" cy="102965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Tableau Hospitality Performance Dashboard</a:t>
              </a:r>
              <a:endParaRPr lang="en-US" sz="1600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B158033-44BE-22E6-72C0-96558B00EE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76800"/>
            <a:ext cx="12115800" cy="5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58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6DFC6-1898-9580-137C-008F0F9B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7564AC-4A31-7D39-B209-F20213453D58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689E8D-E4D7-3AFD-8C66-7518EAC88A15}"/>
              </a:ext>
            </a:extLst>
          </p:cNvPr>
          <p:cNvGrpSpPr/>
          <p:nvPr/>
        </p:nvGrpSpPr>
        <p:grpSpPr>
          <a:xfrm>
            <a:off x="7052310" y="129540"/>
            <a:ext cx="4769576" cy="1689599"/>
            <a:chOff x="7052310" y="674370"/>
            <a:chExt cx="4122420" cy="144589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AB9D4F0-F563-E582-34C5-0A729AC8CD1B}"/>
                </a:ext>
              </a:extLst>
            </p:cNvPr>
            <p:cNvSpPr/>
            <p:nvPr/>
          </p:nvSpPr>
          <p:spPr>
            <a:xfrm>
              <a:off x="7052310" y="674370"/>
              <a:ext cx="4122420" cy="10896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Core Metrics View</a:t>
              </a:r>
            </a:p>
            <a:p>
              <a:pPr algn="ctr"/>
              <a:endParaRPr lang="en-IN" sz="1600" b="1" u="sng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Shows key dashboard indicators including total revenue, occupancy rate, bookings, and cancellation percentage for quick status review</a:t>
              </a: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3A659CE1-3AC5-B0BF-6FB3-D037E7BBCB26}"/>
                </a:ext>
              </a:extLst>
            </p:cNvPr>
            <p:cNvSpPr/>
            <p:nvPr/>
          </p:nvSpPr>
          <p:spPr>
            <a:xfrm>
              <a:off x="8846820" y="1712595"/>
              <a:ext cx="533400" cy="407670"/>
            </a:xfrm>
            <a:prstGeom prst="down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7F01E3-FC1C-FCBF-6F65-2FAD3895D1D4}"/>
              </a:ext>
            </a:extLst>
          </p:cNvPr>
          <p:cNvGrpSpPr/>
          <p:nvPr/>
        </p:nvGrpSpPr>
        <p:grpSpPr>
          <a:xfrm>
            <a:off x="7042175" y="558061"/>
            <a:ext cx="4789844" cy="1689599"/>
            <a:chOff x="7052310" y="2185035"/>
            <a:chExt cx="4122420" cy="14306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C3B196-99CA-93F4-28A6-0711E645A04D}"/>
                </a:ext>
              </a:extLst>
            </p:cNvPr>
            <p:cNvSpPr/>
            <p:nvPr/>
          </p:nvSpPr>
          <p:spPr>
            <a:xfrm>
              <a:off x="7052310" y="2185035"/>
              <a:ext cx="4122420" cy="1089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Time Pattern Analysis</a:t>
              </a:r>
            </a:p>
            <a:p>
              <a:pPr algn="ctr"/>
              <a:endParaRPr lang="en-IN" sz="16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Visualizes revenue over time and weekly booking trends to identify fluctuations and period-wise performance changes</a:t>
              </a: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C555B12D-ECB2-C409-6150-2E5410031467}"/>
                </a:ext>
              </a:extLst>
            </p:cNvPr>
            <p:cNvSpPr/>
            <p:nvPr/>
          </p:nvSpPr>
          <p:spPr>
            <a:xfrm>
              <a:off x="8846820" y="3208020"/>
              <a:ext cx="533400" cy="407670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A33578-B93C-7D04-614B-AD6E95D325E6}"/>
              </a:ext>
            </a:extLst>
          </p:cNvPr>
          <p:cNvGrpSpPr/>
          <p:nvPr/>
        </p:nvGrpSpPr>
        <p:grpSpPr>
          <a:xfrm>
            <a:off x="7042176" y="1131172"/>
            <a:ext cx="4781879" cy="1751517"/>
            <a:chOff x="7109460" y="3669030"/>
            <a:chExt cx="4122420" cy="14763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C75BE3-332F-2EF8-5C50-B8C6D4A48555}"/>
                </a:ext>
              </a:extLst>
            </p:cNvPr>
            <p:cNvSpPr/>
            <p:nvPr/>
          </p:nvSpPr>
          <p:spPr>
            <a:xfrm>
              <a:off x="7109460" y="3669030"/>
              <a:ext cx="4122420" cy="10896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Category &amp; Location Insights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Compares room class and city/hotel revenue to highlight top contributors and segment performance differences</a:t>
              </a: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39EBC6F0-CBAE-6652-A28F-B8C32408859D}"/>
                </a:ext>
              </a:extLst>
            </p:cNvPr>
            <p:cNvSpPr/>
            <p:nvPr/>
          </p:nvSpPr>
          <p:spPr>
            <a:xfrm>
              <a:off x="8846820" y="4737735"/>
              <a:ext cx="533400" cy="407670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ACF85D2-B939-D504-4B1E-9A60AF2DD13D}"/>
              </a:ext>
            </a:extLst>
          </p:cNvPr>
          <p:cNvSpPr/>
          <p:nvPr/>
        </p:nvSpPr>
        <p:spPr>
          <a:xfrm>
            <a:off x="7034212" y="1751765"/>
            <a:ext cx="4769574" cy="108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Filter-Driven Exploration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Interactive filter cards allow users to slice results by room class, category, and city for flexible analysis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314218-2BA9-BDDB-F27F-C3F83F687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7407"/>
            <a:ext cx="6647248" cy="328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98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46C25-B276-3B72-2BF8-CB94C01A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9CFA61-BE14-D8B7-92FE-ADE7E460C6F9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F3FAD35-D56C-A518-A4DD-7012C21D1865}"/>
              </a:ext>
            </a:extLst>
          </p:cNvPr>
          <p:cNvGrpSpPr/>
          <p:nvPr/>
        </p:nvGrpSpPr>
        <p:grpSpPr>
          <a:xfrm>
            <a:off x="7052310" y="129540"/>
            <a:ext cx="4769576" cy="1689599"/>
            <a:chOff x="7052310" y="674370"/>
            <a:chExt cx="4122420" cy="144589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773D446-710E-E625-75FA-62EE8AEE33F7}"/>
                </a:ext>
              </a:extLst>
            </p:cNvPr>
            <p:cNvSpPr/>
            <p:nvPr/>
          </p:nvSpPr>
          <p:spPr>
            <a:xfrm>
              <a:off x="7052310" y="674370"/>
              <a:ext cx="4122420" cy="10896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Core Metrics View</a:t>
              </a:r>
            </a:p>
            <a:p>
              <a:pPr algn="ctr"/>
              <a:endParaRPr lang="en-IN" sz="1600" b="1" u="sng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Shows key dashboard indicators including total revenue, occupancy rate, bookings, and cancellation percentage for quick status review</a:t>
              </a: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93BEC01C-A48F-EF80-2A4C-AC2B2CEE3335}"/>
                </a:ext>
              </a:extLst>
            </p:cNvPr>
            <p:cNvSpPr/>
            <p:nvPr/>
          </p:nvSpPr>
          <p:spPr>
            <a:xfrm>
              <a:off x="8846820" y="1712595"/>
              <a:ext cx="533400" cy="407670"/>
            </a:xfrm>
            <a:prstGeom prst="down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1E2937-5C92-D34D-D94C-7786829FAB3B}"/>
              </a:ext>
            </a:extLst>
          </p:cNvPr>
          <p:cNvGrpSpPr/>
          <p:nvPr/>
        </p:nvGrpSpPr>
        <p:grpSpPr>
          <a:xfrm>
            <a:off x="7088232" y="1906219"/>
            <a:ext cx="4769576" cy="1689599"/>
            <a:chOff x="7052310" y="2185035"/>
            <a:chExt cx="4122420" cy="14306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BA6A0B0-CD34-3D7E-20D4-C0AA8C1A4FEA}"/>
                </a:ext>
              </a:extLst>
            </p:cNvPr>
            <p:cNvSpPr/>
            <p:nvPr/>
          </p:nvSpPr>
          <p:spPr>
            <a:xfrm>
              <a:off x="7052310" y="2185035"/>
              <a:ext cx="4122420" cy="10896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Time Pattern Analysis</a:t>
              </a:r>
            </a:p>
            <a:p>
              <a:pPr algn="ctr"/>
              <a:endParaRPr lang="en-IN" sz="16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Visualizes revenue over time and weekly booking trends to identify fluctuations and period-wise performance changes</a:t>
              </a: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9DCCEC42-6949-CC2D-B11F-32F06388C457}"/>
                </a:ext>
              </a:extLst>
            </p:cNvPr>
            <p:cNvSpPr/>
            <p:nvPr/>
          </p:nvSpPr>
          <p:spPr>
            <a:xfrm>
              <a:off x="8846820" y="3208020"/>
              <a:ext cx="533400" cy="407670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7AFE00-EF8D-D802-B343-B7C508AFC81E}"/>
              </a:ext>
            </a:extLst>
          </p:cNvPr>
          <p:cNvGrpSpPr/>
          <p:nvPr/>
        </p:nvGrpSpPr>
        <p:grpSpPr>
          <a:xfrm>
            <a:off x="7088233" y="3595818"/>
            <a:ext cx="4769575" cy="1751517"/>
            <a:chOff x="7109460" y="3669030"/>
            <a:chExt cx="4122420" cy="14763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97D305-E13C-CE57-CDF3-1BC9B2CE19BF}"/>
                </a:ext>
              </a:extLst>
            </p:cNvPr>
            <p:cNvSpPr/>
            <p:nvPr/>
          </p:nvSpPr>
          <p:spPr>
            <a:xfrm>
              <a:off x="7109460" y="3669030"/>
              <a:ext cx="4122420" cy="10896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Category &amp; Location Insights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Compares room class and city/hotel revenue to highlight top contributors and segment performance differences</a:t>
              </a: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82BDC9F8-EEEB-0F81-054B-816518213677}"/>
                </a:ext>
              </a:extLst>
            </p:cNvPr>
            <p:cNvSpPr/>
            <p:nvPr/>
          </p:nvSpPr>
          <p:spPr>
            <a:xfrm>
              <a:off x="8846820" y="4737735"/>
              <a:ext cx="533400" cy="407670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C82BDAD-0DCD-3C55-7440-68060FE6FCBB}"/>
              </a:ext>
            </a:extLst>
          </p:cNvPr>
          <p:cNvSpPr/>
          <p:nvPr/>
        </p:nvSpPr>
        <p:spPr>
          <a:xfrm>
            <a:off x="7088234" y="5398950"/>
            <a:ext cx="4769574" cy="108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Filter-Driven Exploration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Interactive filter cards allow users to slice results by room class, category, and city for flexible analysis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60FC04-7A6A-885A-8D8F-77A27B08B8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7407"/>
            <a:ext cx="6647248" cy="328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20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C341B-9BF3-DB77-322A-FC95F3844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8F8D26-67A9-ECE3-0B86-399640C50F6B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9FE493-BEBC-8BA9-107F-281729E12B9D}"/>
              </a:ext>
            </a:extLst>
          </p:cNvPr>
          <p:cNvGrpSpPr/>
          <p:nvPr/>
        </p:nvGrpSpPr>
        <p:grpSpPr>
          <a:xfrm>
            <a:off x="1074420" y="2792729"/>
            <a:ext cx="9364979" cy="81915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A8FA916-6C2F-73DF-E7A6-34645D932F8D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201ACB-51DA-E24F-F244-13857AC6C0DB}"/>
                </a:ext>
              </a:extLst>
            </p:cNvPr>
            <p:cNvSpPr txBox="1"/>
            <p:nvPr/>
          </p:nvSpPr>
          <p:spPr>
            <a:xfrm>
              <a:off x="3550242" y="3482631"/>
              <a:ext cx="5400888" cy="100091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b="1" dirty="0"/>
                <a:t>MySQL Hospitality Performance Analysis</a:t>
              </a:r>
              <a:endParaRPr lang="en-US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3174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234E7-0E88-320C-45A9-6948B9D5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6BDE18-8963-8E60-953E-D40E1FF6EFB3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E2C0923-0D5F-2B86-95E4-605DC1C3560E}"/>
              </a:ext>
            </a:extLst>
          </p:cNvPr>
          <p:cNvGrpSpPr/>
          <p:nvPr/>
        </p:nvGrpSpPr>
        <p:grpSpPr>
          <a:xfrm>
            <a:off x="3509009" y="329716"/>
            <a:ext cx="4895851" cy="461011"/>
            <a:chOff x="3025140" y="3347784"/>
            <a:chExt cx="6339840" cy="14020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522958F-AC21-3B48-4664-593F19AB262F}"/>
                </a:ext>
              </a:extLst>
            </p:cNvPr>
            <p:cNvSpPr/>
            <p:nvPr/>
          </p:nvSpPr>
          <p:spPr>
            <a:xfrm>
              <a:off x="3025140" y="3347784"/>
              <a:ext cx="6339840" cy="1402080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97AC6C-5FBD-C4C5-ED8C-89DBC327D885}"/>
                </a:ext>
              </a:extLst>
            </p:cNvPr>
            <p:cNvSpPr txBox="1"/>
            <p:nvPr/>
          </p:nvSpPr>
          <p:spPr>
            <a:xfrm>
              <a:off x="3550243" y="3482630"/>
              <a:ext cx="5400888" cy="102965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/>
                <a:t>MySQL Hospitality Performance Analysis</a:t>
              </a:r>
              <a:endParaRPr lang="en-US" sz="1600" b="1" dirty="0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5056BC-334E-D904-F400-BA3AD41B2954}"/>
              </a:ext>
            </a:extLst>
          </p:cNvPr>
          <p:cNvSpPr/>
          <p:nvPr/>
        </p:nvSpPr>
        <p:spPr>
          <a:xfrm>
            <a:off x="6211775" y="1744980"/>
            <a:ext cx="5311140" cy="4744832"/>
          </a:xfrm>
          <a:prstGeom prst="roundRect">
            <a:avLst>
              <a:gd name="adj" fmla="val 163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0E6F05-B2DE-7608-4805-1EC0215F5009}"/>
              </a:ext>
            </a:extLst>
          </p:cNvPr>
          <p:cNvSpPr txBox="1"/>
          <p:nvPr/>
        </p:nvSpPr>
        <p:spPr>
          <a:xfrm>
            <a:off x="7434047" y="1855708"/>
            <a:ext cx="26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Challenges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F898A-D160-A4FC-6152-53E5F6C89D9F}"/>
              </a:ext>
            </a:extLst>
          </p:cNvPr>
          <p:cNvSpPr txBox="1"/>
          <p:nvPr/>
        </p:nvSpPr>
        <p:spPr>
          <a:xfrm>
            <a:off x="6553199" y="2225040"/>
            <a:ext cx="44515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Loading large datasets into MySQL tables took higher processing and import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Initial data load and indexing were slower due to large dataset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Optimizing query performance for large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Handling date fields for weekly and monthly trend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Bulk data upload took longer because of table size and record volume.</a:t>
            </a:r>
            <a:endParaRPr lang="en-IN" sz="16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6FB5C1-78E8-91AC-D60B-C13FF64C3AC5}"/>
              </a:ext>
            </a:extLst>
          </p:cNvPr>
          <p:cNvSpPr/>
          <p:nvPr/>
        </p:nvSpPr>
        <p:spPr>
          <a:xfrm>
            <a:off x="417624" y="1744979"/>
            <a:ext cx="5311140" cy="4744833"/>
          </a:xfrm>
          <a:prstGeom prst="roundRect">
            <a:avLst>
              <a:gd name="adj" fmla="val 163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C9C02-D80C-295B-1964-A5391D3531A1}"/>
              </a:ext>
            </a:extLst>
          </p:cNvPr>
          <p:cNvSpPr txBox="1"/>
          <p:nvPr/>
        </p:nvSpPr>
        <p:spPr>
          <a:xfrm>
            <a:off x="1892952" y="1855708"/>
            <a:ext cx="26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SQL Analysis Features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B54591-916E-75D4-22AC-A4AA8D2DC8EF}"/>
              </a:ext>
            </a:extLst>
          </p:cNvPr>
          <p:cNvSpPr txBox="1"/>
          <p:nvPr/>
        </p:nvSpPr>
        <p:spPr>
          <a:xfrm>
            <a:off x="762110" y="2225040"/>
            <a:ext cx="439208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Structured hospitality data stored and managed using relational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SQL queries used to calculate revenue, bookings, occupancy, and cancellation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JOIN operations applied across booking, hotel, and room tables for combined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GROUP BY and aggregation functions used for city, class, and time-based summaries.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Filtered queries built to compare weekday vs weekend and category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Derived metrics created using calculated query expressions.</a:t>
            </a:r>
          </a:p>
        </p:txBody>
      </p:sp>
    </p:spTree>
    <p:extLst>
      <p:ext uri="{BB962C8B-B14F-4D97-AF65-F5344CB8AC3E}">
        <p14:creationId xmlns:p14="http://schemas.microsoft.com/office/powerpoint/2010/main" val="3880222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2" grpId="0" animBg="1"/>
      <p:bldP spid="5" grpId="0"/>
      <p:bldP spid="2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29149-06C8-6C6D-1A5E-0DBC0820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FD841E-C0B5-777D-B8A0-743CBEF299D9}"/>
              </a:ext>
            </a:extLst>
          </p:cNvPr>
          <p:cNvSpPr txBox="1"/>
          <p:nvPr/>
        </p:nvSpPr>
        <p:spPr>
          <a:xfrm>
            <a:off x="2181225" y="2413337"/>
            <a:ext cx="75152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Rounded MT Bold" panose="020F0704030504030204" pitchFamily="34" charset="0"/>
              </a:rPr>
              <a:t>Thank you</a:t>
            </a:r>
            <a:endParaRPr lang="en-IN" sz="60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31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698</TotalTime>
  <Words>1256</Words>
  <Application>Microsoft Office PowerPoint</Application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konapuram bhanu kiran</dc:creator>
  <cp:lastModifiedBy>konapuram bhanu kiran</cp:lastModifiedBy>
  <cp:revision>2</cp:revision>
  <dcterms:created xsi:type="dcterms:W3CDTF">2026-02-11T16:07:48Z</dcterms:created>
  <dcterms:modified xsi:type="dcterms:W3CDTF">2026-02-13T14:07:42Z</dcterms:modified>
</cp:coreProperties>
</file>